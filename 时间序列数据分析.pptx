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81499"/>
  </p:normalViewPr>
  <p:slideViewPr>
    <p:cSldViewPr snapToGrid="0">
      <p:cViewPr varScale="1">
        <p:scale>
          <a:sx n="95" d="100"/>
          <a:sy n="95" d="100"/>
        </p:scale>
        <p:origin x="200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623C83-4001-524F-9384-6CDFA45F7F8C}" type="datetimeFigureOut">
              <a:rPr kumimoji="1" lang="zh-CN" altLang="en-US" smtClean="0"/>
              <a:t>2026/8/10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6AD118-5277-D74B-AE26-D71625E4B8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17927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616161"/>
                </a:solidFill>
                <a:effectLst/>
                <a:latin typeface="-apple-system"/>
              </a:rPr>
              <a:t>"</a:t>
            </a:r>
            <a:r>
              <a:rPr lang="zh-CN" altLang="en-US" b="0" i="0" dirty="0">
                <a:solidFill>
                  <a:srgbClr val="616161"/>
                </a:solidFill>
                <a:effectLst/>
                <a:latin typeface="-apple-system"/>
              </a:rPr>
              <a:t>这张图叫 </a:t>
            </a:r>
            <a:r>
              <a:rPr lang="en-US" altLang="zh-CN" b="1" i="0" dirty="0">
                <a:solidFill>
                  <a:srgbClr val="616161"/>
                </a:solidFill>
                <a:effectLst/>
                <a:latin typeface="-apple-system"/>
              </a:rPr>
              <a:t>'</a:t>
            </a:r>
            <a:r>
              <a:rPr lang="en" altLang="zh-CN" b="1" i="0" dirty="0">
                <a:solidFill>
                  <a:srgbClr val="616161"/>
                </a:solidFill>
                <a:effectLst/>
                <a:latin typeface="-apple-system"/>
              </a:rPr>
              <a:t>x₁–x₈ </a:t>
            </a:r>
            <a:r>
              <a:rPr lang="zh-CN" altLang="en-US" b="1" i="0" dirty="0">
                <a:solidFill>
                  <a:srgbClr val="616161"/>
                </a:solidFill>
                <a:effectLst/>
                <a:latin typeface="-apple-system"/>
              </a:rPr>
              <a:t>与 </a:t>
            </a:r>
            <a:r>
              <a:rPr lang="en" altLang="zh-CN" b="1" i="0" dirty="0">
                <a:solidFill>
                  <a:srgbClr val="616161"/>
                </a:solidFill>
                <a:effectLst/>
                <a:latin typeface="-apple-system"/>
              </a:rPr>
              <a:t>y₁–y₄ </a:t>
            </a:r>
            <a:r>
              <a:rPr lang="zh-CN" altLang="en-US" b="1" i="0" dirty="0">
                <a:solidFill>
                  <a:srgbClr val="616161"/>
                </a:solidFill>
                <a:effectLst/>
                <a:latin typeface="-apple-system"/>
              </a:rPr>
              <a:t>归一化时间演化图</a:t>
            </a:r>
            <a:r>
              <a:rPr lang="en-US" altLang="zh-CN" b="1" i="0" dirty="0">
                <a:solidFill>
                  <a:srgbClr val="616161"/>
                </a:solidFill>
                <a:effectLst/>
                <a:latin typeface="-apple-system"/>
              </a:rPr>
              <a:t>'</a:t>
            </a:r>
            <a:r>
              <a:rPr lang="zh-CN" altLang="en-US" b="0" i="0" dirty="0">
                <a:solidFill>
                  <a:srgbClr val="616161"/>
                </a:solidFill>
                <a:effectLst/>
                <a:latin typeface="-apple-system"/>
              </a:rPr>
              <a:t>。横轴是物理时间，所有 </a:t>
            </a:r>
            <a:r>
              <a:rPr lang="en-US" altLang="zh-CN" b="0" i="0" dirty="0">
                <a:solidFill>
                  <a:srgbClr val="616161"/>
                </a:solidFill>
                <a:effectLst/>
                <a:latin typeface="-apple-system"/>
              </a:rPr>
              <a:t>32 </a:t>
            </a:r>
            <a:r>
              <a:rPr lang="zh-CN" altLang="en-US" b="0" i="0" dirty="0">
                <a:solidFill>
                  <a:srgbClr val="616161"/>
                </a:solidFill>
                <a:effectLst/>
                <a:latin typeface="-apple-system"/>
              </a:rPr>
              <a:t>个实验文件都按起点对齐；纵轴用训练集统计量做的 </a:t>
            </a:r>
            <a:r>
              <a:rPr lang="en" altLang="zh-CN" b="0" i="0" dirty="0">
                <a:solidFill>
                  <a:srgbClr val="616161"/>
                </a:solidFill>
                <a:effectLst/>
                <a:latin typeface="-apple-system"/>
              </a:rPr>
              <a:t>z-score</a:t>
            </a:r>
            <a:r>
              <a:rPr lang="zh-CN" altLang="en" b="0" i="0" dirty="0">
                <a:solidFill>
                  <a:srgbClr val="616161"/>
                </a:solidFill>
                <a:effectLst/>
                <a:latin typeface="-apple-system"/>
              </a:rPr>
              <a:t>，</a:t>
            </a:r>
            <a:r>
              <a:rPr lang="zh-CN" altLang="en-US" b="0" i="0" dirty="0">
                <a:solidFill>
                  <a:srgbClr val="616161"/>
                </a:solidFill>
                <a:effectLst/>
                <a:latin typeface="-apple-system"/>
              </a:rPr>
              <a:t>方便跨文件比较。左边五幅是我们持续监测的 </a:t>
            </a:r>
            <a:r>
              <a:rPr lang="en-US" altLang="zh-CN" b="0" i="0" dirty="0">
                <a:solidFill>
                  <a:srgbClr val="616161"/>
                </a:solidFill>
                <a:effectLst/>
                <a:latin typeface="-apple-system"/>
              </a:rPr>
              <a:t>8 </a:t>
            </a:r>
            <a:r>
              <a:rPr lang="zh-CN" altLang="en-US" b="0" i="0" dirty="0">
                <a:solidFill>
                  <a:srgbClr val="616161"/>
                </a:solidFill>
                <a:effectLst/>
                <a:latin typeface="-apple-system"/>
              </a:rPr>
              <a:t>个传感器 </a:t>
            </a:r>
            <a:r>
              <a:rPr lang="en" altLang="zh-CN" b="0" i="0" dirty="0">
                <a:solidFill>
                  <a:srgbClr val="616161"/>
                </a:solidFill>
                <a:effectLst/>
                <a:latin typeface="-apple-system"/>
              </a:rPr>
              <a:t>x1–x8</a:t>
            </a:r>
            <a:r>
              <a:rPr lang="zh-CN" altLang="en" b="0" i="0" dirty="0">
                <a:solidFill>
                  <a:srgbClr val="616161"/>
                </a:solidFill>
                <a:effectLst/>
                <a:latin typeface="-apple-system"/>
              </a:rPr>
              <a:t>，</a:t>
            </a:r>
            <a:r>
              <a:rPr lang="zh-CN" altLang="en-US" b="0" i="0" dirty="0">
                <a:solidFill>
                  <a:srgbClr val="616161"/>
                </a:solidFill>
                <a:effectLst/>
                <a:latin typeface="-apple-system"/>
              </a:rPr>
              <a:t>右边五幅是 </a:t>
            </a:r>
            <a:r>
              <a:rPr lang="en-US" altLang="zh-CN" b="0" i="0" dirty="0">
                <a:solidFill>
                  <a:srgbClr val="616161"/>
                </a:solidFill>
                <a:effectLst/>
                <a:latin typeface="-apple-system"/>
              </a:rPr>
              <a:t>4 </a:t>
            </a:r>
            <a:r>
              <a:rPr lang="zh-CN" altLang="en-US" b="0" i="0" dirty="0">
                <a:solidFill>
                  <a:srgbClr val="616161"/>
                </a:solidFill>
                <a:effectLst/>
                <a:latin typeface="-apple-system"/>
              </a:rPr>
              <a:t>个关键的质量</a:t>
            </a:r>
            <a:r>
              <a:rPr lang="en-US" altLang="zh-CN" b="0" i="0" dirty="0">
                <a:solidFill>
                  <a:srgbClr val="616161"/>
                </a:solidFill>
                <a:effectLst/>
                <a:latin typeface="-apple-system"/>
              </a:rPr>
              <a:t>/</a:t>
            </a:r>
            <a:r>
              <a:rPr lang="zh-CN" altLang="en-US" b="0" i="0" dirty="0">
                <a:solidFill>
                  <a:srgbClr val="616161"/>
                </a:solidFill>
                <a:effectLst/>
                <a:latin typeface="-apple-system"/>
              </a:rPr>
              <a:t>响应变量 </a:t>
            </a:r>
            <a:r>
              <a:rPr lang="en" altLang="zh-CN" b="0" i="0" dirty="0">
                <a:solidFill>
                  <a:srgbClr val="616161"/>
                </a:solidFill>
                <a:effectLst/>
                <a:latin typeface="-apple-system"/>
              </a:rPr>
              <a:t>y1–y4</a:t>
            </a:r>
            <a:r>
              <a:rPr lang="zh-CN" altLang="en" b="0" i="0" dirty="0">
                <a:solidFill>
                  <a:srgbClr val="616161"/>
                </a:solidFill>
                <a:effectLst/>
                <a:latin typeface="-apple-system"/>
              </a:rPr>
              <a:t>，</a:t>
            </a:r>
            <a:r>
              <a:rPr lang="en" altLang="zh-CN" b="0" i="0" dirty="0">
                <a:solidFill>
                  <a:srgbClr val="616161"/>
                </a:solidFill>
                <a:effectLst/>
                <a:latin typeface="-apple-system"/>
              </a:rPr>
              <a:t>y </a:t>
            </a:r>
            <a:r>
              <a:rPr lang="zh-CN" altLang="en-US" b="0" i="0" dirty="0">
                <a:solidFill>
                  <a:srgbClr val="616161"/>
                </a:solidFill>
                <a:effectLst/>
                <a:latin typeface="-apple-system"/>
              </a:rPr>
              <a:t>那一列因为采样稀疏，我们用线性插值把同一条曲线的相邻实测点连起来</a:t>
            </a:r>
            <a:r>
              <a:rPr lang="en-US" altLang="zh-CN" b="0" i="0" dirty="0">
                <a:solidFill>
                  <a:srgbClr val="616161"/>
                </a:solidFill>
                <a:effectLst/>
                <a:latin typeface="-apple-system"/>
              </a:rPr>
              <a:t>——</a:t>
            </a:r>
            <a:r>
              <a:rPr lang="zh-CN" altLang="en-US" b="0" i="0" dirty="0">
                <a:solidFill>
                  <a:srgbClr val="616161"/>
                </a:solidFill>
                <a:effectLst/>
                <a:latin typeface="-apple-system"/>
              </a:rPr>
              <a:t>线段只是视觉引导，</a:t>
            </a:r>
            <a:r>
              <a:rPr lang="zh-CN" altLang="en-US" b="1" i="0" dirty="0">
                <a:solidFill>
                  <a:srgbClr val="616161"/>
                </a:solidFill>
                <a:effectLst/>
                <a:latin typeface="-apple-system"/>
              </a:rPr>
              <a:t>圆点才是实测</a:t>
            </a:r>
            <a:r>
              <a:rPr lang="zh-CN" altLang="en-US" b="0" i="0" dirty="0">
                <a:solidFill>
                  <a:srgbClr val="616161"/>
                </a:solidFill>
                <a:effectLst/>
                <a:latin typeface="-apple-system"/>
              </a:rPr>
              <a:t>。你先看每行每列那个轮廓一致性好不好，再横着比较 </a:t>
            </a:r>
            <a:r>
              <a:rPr lang="en-US" altLang="zh-CN" b="0" i="0" dirty="0">
                <a:solidFill>
                  <a:srgbClr val="616161"/>
                </a:solidFill>
                <a:effectLst/>
                <a:latin typeface="-apple-system"/>
              </a:rPr>
              <a:t>1 </a:t>
            </a:r>
            <a:r>
              <a:rPr lang="zh-CN" altLang="en-US" b="0" i="0" dirty="0">
                <a:solidFill>
                  <a:srgbClr val="616161"/>
                </a:solidFill>
                <a:effectLst/>
                <a:latin typeface="-apple-system"/>
              </a:rPr>
              <a:t>到 </a:t>
            </a:r>
            <a:r>
              <a:rPr lang="en-US" altLang="zh-CN" b="0" i="0" dirty="0">
                <a:solidFill>
                  <a:srgbClr val="616161"/>
                </a:solidFill>
                <a:effectLst/>
                <a:latin typeface="-apple-system"/>
              </a:rPr>
              <a:t>5 </a:t>
            </a:r>
            <a:r>
              <a:rPr lang="zh-CN" altLang="en-US" b="0" i="0" dirty="0">
                <a:solidFill>
                  <a:srgbClr val="616161"/>
                </a:solidFill>
                <a:effectLst/>
                <a:latin typeface="-apple-system"/>
              </a:rPr>
              <a:t>组的差异</a:t>
            </a:r>
            <a:r>
              <a:rPr lang="en-US" altLang="zh-CN" b="0" i="0" dirty="0">
                <a:solidFill>
                  <a:srgbClr val="616161"/>
                </a:solidFill>
                <a:effectLst/>
                <a:latin typeface="-apple-system"/>
              </a:rPr>
              <a:t>——</a:t>
            </a:r>
            <a:r>
              <a:rPr lang="zh-CN" altLang="en-US" b="0" i="0" dirty="0">
                <a:solidFill>
                  <a:srgbClr val="616161"/>
                </a:solidFill>
                <a:effectLst/>
                <a:latin typeface="-apple-system"/>
              </a:rPr>
              <a:t>这俩就是实验重复性 </a:t>
            </a:r>
            <a:r>
              <a:rPr lang="en-US" altLang="zh-CN" b="0" i="0" dirty="0">
                <a:solidFill>
                  <a:srgbClr val="616161"/>
                </a:solidFill>
                <a:effectLst/>
                <a:latin typeface="-apple-system"/>
              </a:rPr>
              <a:t>+ </a:t>
            </a:r>
            <a:r>
              <a:rPr lang="zh-CN" altLang="en-US" b="0" i="0" dirty="0">
                <a:solidFill>
                  <a:srgbClr val="616161"/>
                </a:solidFill>
                <a:effectLst/>
                <a:latin typeface="-apple-system"/>
              </a:rPr>
              <a:t>组间差异的可视化诊断。</a:t>
            </a:r>
            <a:r>
              <a:rPr lang="en-US" altLang="zh-CN" b="0" i="0" dirty="0">
                <a:solidFill>
                  <a:srgbClr val="616161"/>
                </a:solidFill>
                <a:effectLst/>
                <a:latin typeface="-apple-system"/>
              </a:rPr>
              <a:t>"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6AD118-5277-D74B-AE26-D71625E4B8DF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8431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4A656D-30B7-3FD8-834E-8375AFC7A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1DF71A2-1CD5-1CE3-CFA6-F0F3DA1947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A199A1-0760-ADCE-5139-F06C3C6DE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415E2-4117-6143-AF52-CC58B0D2ED06}" type="datetimeFigureOut">
              <a:rPr kumimoji="1" lang="zh-CN" altLang="en-US" smtClean="0"/>
              <a:t>2026/8/10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582E05-2D40-5F4B-BD24-024C48268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7117E7-2F31-E100-CE86-F6D2B13D6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4437C-CAAB-DB49-9E08-AA29EC16179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233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1CD3B8-1B78-B8DE-5DD7-78DA50951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D1BDF0-8EE1-2498-376C-EEA23D002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07D171-D4BA-9477-623C-3B1EC23E6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415E2-4117-6143-AF52-CC58B0D2ED06}" type="datetimeFigureOut">
              <a:rPr kumimoji="1" lang="zh-CN" altLang="en-US" smtClean="0"/>
              <a:t>2026/8/10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2AD38A-5CC2-D939-D4D4-B575E7452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72C554-3682-A687-BD90-1B6382A12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4437C-CAAB-DB49-9E08-AA29EC16179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95303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21D4E7-CB26-A623-3700-59804130E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6B17C8-3965-57C2-AF69-4942DDDAB0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BEF8AE-8C52-849C-945B-AAA1E112A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415E2-4117-6143-AF52-CC58B0D2ED06}" type="datetimeFigureOut">
              <a:rPr kumimoji="1" lang="zh-CN" altLang="en-US" smtClean="0"/>
              <a:t>2026/8/10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08003D-4457-E7AC-8AC0-A1EDB6E86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282CD3-83DF-2787-DAD7-73CD18BAE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4437C-CAAB-DB49-9E08-AA29EC16179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0680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119017-8D38-D38A-F698-10308B84B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D36F01-03CF-83AE-ECA0-69BB1ED05C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C272D7F-59DB-19A7-0C3D-8489AA585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832618-3250-B0A5-E937-6E191343C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415E2-4117-6143-AF52-CC58B0D2ED06}" type="datetimeFigureOut">
              <a:rPr kumimoji="1" lang="zh-CN" altLang="en-US" smtClean="0"/>
              <a:t>2026/8/10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8ADAC9-9F8B-963C-B01D-3B2842C2D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AF096A-31AB-24DC-4561-A6AD56205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4437C-CAAB-DB49-9E08-AA29EC16179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6460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D80F4E-C6F0-0072-EEC5-4D15245FC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DFD58F6-99CD-7F51-7E47-69F90A1E3B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9D1C8A1-BBA1-4EBC-3B9C-B0B5A5D397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4D93C6C-4BA7-4DF2-4E2D-5369E50A5B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73F52BD-7FD9-E6FC-F106-3FF543578F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A54BC40-FC56-C9D6-A8B0-217EF5648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415E2-4117-6143-AF52-CC58B0D2ED06}" type="datetimeFigureOut">
              <a:rPr kumimoji="1" lang="zh-CN" altLang="en-US" smtClean="0"/>
              <a:t>2026/8/10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F69CF00-4542-FFC7-47B0-6C4BBD02A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E8FA1E9-3A55-5EA5-6406-80AC03B79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4437C-CAAB-DB49-9E08-AA29EC16179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87970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1D9E46-D473-E930-24E8-D87F58EA8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462E923-14AE-B1E6-4449-E5277DD4E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415E2-4117-6143-AF52-CC58B0D2ED06}" type="datetimeFigureOut">
              <a:rPr kumimoji="1" lang="zh-CN" altLang="en-US" smtClean="0"/>
              <a:t>2026/8/10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24243DE-5193-54C5-F3BE-CA11AE1B4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0245A5A-84D3-188B-0502-BD2A0C272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4437C-CAAB-DB49-9E08-AA29EC16179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92108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5F86886-7DCB-6D18-9748-141F0EABF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415E2-4117-6143-AF52-CC58B0D2ED06}" type="datetimeFigureOut">
              <a:rPr kumimoji="1" lang="zh-CN" altLang="en-US" smtClean="0"/>
              <a:t>2026/8/10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F95DF16-E0F7-6E4C-888E-1DCF7328B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CD7D5D-B002-707D-ABA4-BEC51C51A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4437C-CAAB-DB49-9E08-AA29EC16179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57780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985E30-4B23-5F20-F8E7-28F53165B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050002-B835-506A-8A2F-B4AE9B0B4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A1BBCA1-42F5-FBED-20EF-4E759CED2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C0AF236-0154-E511-A711-57ABC7C02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415E2-4117-6143-AF52-CC58B0D2ED06}" type="datetimeFigureOut">
              <a:rPr kumimoji="1" lang="zh-CN" altLang="en-US" smtClean="0"/>
              <a:t>2026/8/10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F66723-CBA4-B4A2-FCD7-9BBA268A2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373516D-7F01-06AB-26DB-6E516E777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4437C-CAAB-DB49-9E08-AA29EC16179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68571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465455-68DE-D7A0-921A-EE10E5CC4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A9CAD00-F7F6-CE47-D1BB-73C0478E16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141B9AE-357A-AA60-F6C1-B308576A98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2FEC05-1A29-3013-1654-CC079C6B2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415E2-4117-6143-AF52-CC58B0D2ED06}" type="datetimeFigureOut">
              <a:rPr kumimoji="1" lang="zh-CN" altLang="en-US" smtClean="0"/>
              <a:t>2026/8/10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2F80C0-87FC-46E9-815E-06EE0958E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82D2DB2-4897-1AF0-E4E4-C78F8D8AA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4437C-CAAB-DB49-9E08-AA29EC16179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46283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92B3F4-D4AD-60A5-445F-4ECE00440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D48C70A-B85F-9EFC-3EA1-3C8D70BA58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1DEB2A-0943-8043-5DB9-28A005648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415E2-4117-6143-AF52-CC58B0D2ED06}" type="datetimeFigureOut">
              <a:rPr kumimoji="1" lang="zh-CN" altLang="en-US" smtClean="0"/>
              <a:t>2026/8/10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6E6FA0-0745-D3B3-E4F5-BC8740E2B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7DF6CE-7219-516C-7AD9-552B0E8F0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4437C-CAAB-DB49-9E08-AA29EC16179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12374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66D04A9-08F5-8924-4BD5-596F4B7CFE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B702017-B337-E5E7-208C-03C53C9F26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A6FE57-7650-D91F-813B-02F1D87DE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415E2-4117-6143-AF52-CC58B0D2ED06}" type="datetimeFigureOut">
              <a:rPr kumimoji="1" lang="zh-CN" altLang="en-US" smtClean="0"/>
              <a:t>2026/8/10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B15CC0-0E90-0575-6ED7-11C200C95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A4BD92-1619-4066-FB8F-5596C844A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4437C-CAAB-DB49-9E08-AA29EC16179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76739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CCE8985-D233-D8E5-DD76-6D0554581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9C8DB0-6EE0-F150-6C62-276565760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7D5626-9E6E-D3CB-B166-B062CAF9E1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415E2-4117-6143-AF52-CC58B0D2ED06}" type="datetimeFigureOut">
              <a:rPr kumimoji="1" lang="zh-CN" altLang="en-US" smtClean="0"/>
              <a:t>2026/8/10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11AADE-505C-7D1B-A319-786CBE426D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C1EE26-2434-CCEB-A4CC-4A07F5AC11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E4437C-CAAB-DB49-9E08-AA29EC16179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16863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4744247-5D3F-EFDB-BF16-EA357A38AF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2151" y="995082"/>
            <a:ext cx="3861648" cy="566375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C9BC4C0-11DE-0108-A78F-1FA2EE522C10}"/>
              </a:ext>
            </a:extLst>
          </p:cNvPr>
          <p:cNvSpPr txBox="1"/>
          <p:nvPr/>
        </p:nvSpPr>
        <p:spPr>
          <a:xfrm>
            <a:off x="416858" y="510988"/>
            <a:ext cx="3336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b="0" i="0" dirty="0">
                <a:solidFill>
                  <a:srgbClr val="616161"/>
                </a:solidFill>
                <a:effectLst/>
                <a:latin typeface="-apple-system"/>
              </a:rPr>
              <a:t>x₁–x₈ </a:t>
            </a:r>
            <a:r>
              <a:rPr lang="zh-CN" altLang="en-US" b="0" i="0" dirty="0">
                <a:solidFill>
                  <a:srgbClr val="616161"/>
                </a:solidFill>
                <a:effectLst/>
                <a:latin typeface="-apple-system"/>
              </a:rPr>
              <a:t>与 </a:t>
            </a:r>
            <a:r>
              <a:rPr lang="en" altLang="zh-CN" b="0" i="0" dirty="0">
                <a:solidFill>
                  <a:srgbClr val="616161"/>
                </a:solidFill>
                <a:effectLst/>
                <a:latin typeface="-apple-system"/>
              </a:rPr>
              <a:t>y₁–y₄ </a:t>
            </a:r>
            <a:r>
              <a:rPr lang="zh-CN" altLang="en-US" b="0" i="0" dirty="0">
                <a:solidFill>
                  <a:srgbClr val="616161"/>
                </a:solidFill>
                <a:effectLst/>
                <a:latin typeface="-apple-system"/>
              </a:rPr>
              <a:t>归一化时间演化图</a:t>
            </a:r>
            <a:endParaRPr kumimoji="1"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980C996-2BE3-4EE0-492C-243082C363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2307" y="1014790"/>
            <a:ext cx="4119091" cy="5663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755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178</Words>
  <Application>Microsoft Macintosh PowerPoint</Application>
  <PresentationFormat>宽屏</PresentationFormat>
  <Paragraphs>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-apple-system</vt:lpstr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admin</cp:lastModifiedBy>
  <cp:revision>2</cp:revision>
  <dcterms:created xsi:type="dcterms:W3CDTF">2026-08-10T07:55:57Z</dcterms:created>
  <dcterms:modified xsi:type="dcterms:W3CDTF">2026-08-10T09:02:25Z</dcterms:modified>
</cp:coreProperties>
</file>